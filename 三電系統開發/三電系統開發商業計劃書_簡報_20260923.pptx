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2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3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charts/chart4.xml" ContentType="application/vnd.openxmlformats-officedocument.drawingml.chart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charts/chart5.xml" ContentType="application/vnd.openxmlformats-officedocument.drawingml.chart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charts/chart6.xml" ContentType="application/vnd.openxmlformats-officedocument.drawingml.chart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入手價降幅（vs 最低價合法 e-bike）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937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A89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2C39A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歐洲</c:v>
                  </c:pt>
                  <c:pt idx="1">
                    <c:v>日本</c:v>
                  </c:pt>
                  <c:pt idx="2">
                    <c:v>台灣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73.63990056294662</c:v>
                </c:pt>
                <c:pt idx="1">
                  <c:v>18.61853648999674</c:v>
                </c:pt>
                <c:pt idx="2">
                  <c:v>52.233873598585326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900" u="none">
                  <a:solidFill>
                    <a:srgbClr val="1F2937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1"/>
        <c:axPos val="b"/>
        <c:majorGridlines>
          <c:spPr>
            <a:ln w="6350" cap="flat">
              <a:solidFill>
                <a:srgbClr val="E3EC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3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材料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937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 含電池含充電器</c:v>
                  </c:pt>
                  <c:pt idx="1">
                    <c:v>B 不含電池</c:v>
                  </c:pt>
                  <c:pt idx="2">
                    <c:v>C 不含電池充電器</c:v>
                  </c:pt>
                  <c:pt idx="3">
                    <c:v>日本平地版</c:v>
                  </c:pt>
                  <c:pt idx="4">
                    <c:v>坡地載童版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1121</c:v>
                </c:pt>
                <c:pt idx="1">
                  <c:v>839.216</c:v>
                </c:pt>
                <c:pt idx="2">
                  <c:v>799.216</c:v>
                </c:pt>
                <c:pt idx="3">
                  <c:v>966.5160000000001</c:v>
                </c:pt>
                <c:pt idx="4">
                  <c:v>1188.516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出廠價 @13%</c:v>
                </c:pt>
              </c:strCache>
            </c:strRef>
          </c:tx>
          <c:spPr>
            <a:solidFill>
              <a:srgbClr val="00A89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937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 含電池含充電器</c:v>
                  </c:pt>
                  <c:pt idx="1">
                    <c:v>B 不含電池</c:v>
                  </c:pt>
                  <c:pt idx="2">
                    <c:v>C 不含電池充電器</c:v>
                  </c:pt>
                  <c:pt idx="3">
                    <c:v>日本平地版</c:v>
                  </c:pt>
                  <c:pt idx="4">
                    <c:v>坡地載童版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1313.7931034482758</c:v>
                </c:pt>
                <c:pt idx="1">
                  <c:v>989.903448275862</c:v>
                </c:pt>
                <c:pt idx="2">
                  <c:v>943.9264367816093</c:v>
                </c:pt>
                <c:pt idx="3">
                  <c:v>1136.225287356322</c:v>
                </c:pt>
                <c:pt idx="4">
                  <c:v>1391.3977011494253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F2937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3EC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3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F2937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€/戶/月（歐洲 180Wh）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937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A89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2C39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7FB3B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電池資產攤提</c:v>
                  </c:pt>
                  <c:pt idx="1">
                    <c:v>充電器攤提</c:v>
                  </c:pt>
                  <c:pt idx="2">
                    <c:v>更換準備</c:v>
                  </c:pt>
                  <c:pt idx="3">
                    <c:v>失竊+客服+物流</c:v>
                  </c:pt>
                  <c:pt idx="4">
                    <c:v>CAC 攤提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0.7474469753086419</c:v>
                </c:pt>
                <c:pt idx="1">
                  <c:v>0.10905349794238682</c:v>
                </c:pt>
                <c:pt idx="2">
                  <c:v>1.284512037037037</c:v>
                </c:pt>
                <c:pt idx="3">
                  <c:v>1.7</c:v>
                </c:pt>
                <c:pt idx="4">
                  <c:v>0.8333333333333334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1F2937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"/>
        </c:scaling>
        <c:delete val="1"/>
        <c:axPos val="b"/>
        <c:majorGridlines>
          <c:spPr>
            <a:ln w="6350" cap="flat">
              <a:solidFill>
                <a:srgbClr val="E3EC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3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消費者月付 ¥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937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A89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2C39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7FB3B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0A896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①分期+電池訂閱</c:v>
                  </c:pt>
                  <c:pt idx="1">
                    <c:v>②A 公司付電池</c:v>
                  </c:pt>
                  <c:pt idx="2">
                    <c:v>②B 公司全額租賃</c:v>
                  </c:pt>
                  <c:pt idx="3">
                    <c:v>③ふるさと納税</c:v>
                  </c:pt>
                  <c:pt idx="4">
                    <c:v>NORUDE ViVi SX</c:v>
                  </c:pt>
                  <c:pt idx="5">
                    <c:v>PELTECH 買斷/36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2631.8365327494985</c:v>
                </c:pt>
                <c:pt idx="1">
                  <c:v>1607.8365327494985</c:v>
                </c:pt>
                <c:pt idx="2">
                  <c:v>599.8856718773948</c:v>
                </c:pt>
                <c:pt idx="3">
                  <c:v>853.3333333333334</c:v>
                </c:pt>
                <c:pt idx="4">
                  <c:v>2890</c:v>
                </c:pt>
                <c:pt idx="5">
                  <c:v>2499.4444444444443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F2937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3EC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3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RMB/台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937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A89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2C39A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依 duty cycle 配電池</c:v>
                  </c:pt>
                  <c:pt idx="1">
                    <c:v>二次電芯降階</c:v>
                  </c:pt>
                  <c:pt idx="2">
                    <c:v>翻新迴圈（年化）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116.97575999999998</c:v>
                </c:pt>
                <c:pt idx="1">
                  <c:v>21.384</c:v>
                </c:pt>
                <c:pt idx="2">
                  <c:v>47.812200000000004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F2937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3EC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3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硬體營收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937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2027</c:v>
                  </c:pt>
                  <c:pt idx="1">
                    <c:v>2028</c:v>
                  </c:pt>
                  <c:pt idx="2">
                    <c:v>2029</c:v>
                  </c:pt>
                  <c:pt idx="3">
                    <c:v>2030</c:v>
                  </c:pt>
                  <c:pt idx="4">
                    <c:v>2031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44.98900788965517</c:v>
                </c:pt>
                <c:pt idx="1">
                  <c:v>140.5906496551724</c:v>
                </c:pt>
                <c:pt idx="2">
                  <c:v>281.1812993103448</c:v>
                </c:pt>
                <c:pt idx="3">
                  <c:v>449.89007889655176</c:v>
                </c:pt>
                <c:pt idx="4">
                  <c:v>618.5988584827586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訂閱營收（淨額）</c:v>
                </c:pt>
              </c:strCache>
            </c:strRef>
          </c:tx>
          <c:spPr>
            <a:solidFill>
              <a:srgbClr val="00A89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937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2027</c:v>
                  </c:pt>
                  <c:pt idx="1">
                    <c:v>2028</c:v>
                  </c:pt>
                  <c:pt idx="2">
                    <c:v>2029</c:v>
                  </c:pt>
                  <c:pt idx="3">
                    <c:v>2030</c:v>
                  </c:pt>
                  <c:pt idx="4">
                    <c:v>2031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13.91085663469467</c:v>
                </c:pt>
                <c:pt idx="1">
                  <c:v>68.51096892587125</c:v>
                </c:pt>
                <c:pt idx="2">
                  <c:v>185.22305609095955</c:v>
                </c:pt>
                <c:pt idx="3">
                  <c:v>374.229865186556</c:v>
                </c:pt>
                <c:pt idx="4">
                  <c:v>629.7667372232432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F2937"/>
                  </a:solidFill>
                  <a:latin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100"/>
        <c:axId val="2094734554"/>
        <c:axId val="2094734552"/>
        <c:axId val="2094734556"/>
      </c:barChart>
      <c:lineChart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EBIT</c:v>
                </c:pt>
              </c:strCache>
            </c:strRef>
          </c:tx>
          <c:spPr>
            <a:solidFill>
              <a:srgbClr val="B4530A"/>
            </a:solidFill>
            <a:ln w="25400" cap="flat">
              <a:solidFill>
                <a:srgbClr val="B4530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937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B4530A"/>
              </a:solidFill>
              <a:ln w="9525" cap="flat">
                <a:solidFill>
                  <a:srgbClr val="B4530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2027</c:v>
                  </c:pt>
                  <c:pt idx="1">
                    <c:v>2028</c:v>
                  </c:pt>
                  <c:pt idx="2">
                    <c:v>2029</c:v>
                  </c:pt>
                  <c:pt idx="3">
                    <c:v>2030</c:v>
                  </c:pt>
                  <c:pt idx="4">
                    <c:v>2031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-19.156728279881115</c:v>
                </c:pt>
                <c:pt idx="1">
                  <c:v>-15.85623288249791</c:v>
                </c:pt>
                <c:pt idx="2">
                  <c:v>19.89660031771062</c:v>
                </c:pt>
                <c:pt idx="3">
                  <c:v>77.48001133760714</c:v>
                </c:pt>
                <c:pt idx="4">
                  <c:v>159.6098462484286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F2937"/>
                  </a:solidFill>
                  <a:latin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-100"/>
        </c:scaling>
        <c:delete val="0"/>
        <c:axPos val="l"/>
        <c:majorGridlines>
          <c:spPr>
            <a:ln w="6350" cap="flat">
              <a:solidFill>
                <a:srgbClr val="E3EC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3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F2937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AF8"/>
          </a:solidFill>
          <a:ln w="12700">
            <a:solidFill>
              <a:srgbClr val="F3FA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12480" y="-1097280"/>
            <a:ext cx="5486400" cy="5486400"/>
          </a:xfrm>
          <a:prstGeom prst="ellipse">
            <a:avLst/>
          </a:prstGeom>
          <a:solidFill>
            <a:srgbClr val="E6F5F3"/>
          </a:solidFill>
          <a:ln w="12700">
            <a:solidFill>
              <a:srgbClr val="E6F5F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92640" y="3566160"/>
            <a:ext cx="3291840" cy="329184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63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B73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達方電子 E-mobility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01168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28090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三電系統開發商業計劃書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10896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極簡版 Hub-motor E-Bike 平台：合規電池平台為地基，車體賣斷、電池訂閱為選擇權；三個變體、三個市場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5760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v1.1｜2026-09-23｜依 V3／V4 降本模型與 V3 補充模型計算，數字連動 Excel｜內部策略研究，非投資建議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簡報結構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30 頁，六個部分；每一頁的數字都可在配套模型中追溯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24712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達方電子 E-mobility｜三電系統開發商業計劃書 v1.1｜內部策略研究，非投資建議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3566160" cy="2011680"/>
          </a:xfrm>
          <a:prstGeom prst="roundRect">
            <a:avLst>
              <a:gd name="adj" fmla="val 3636"/>
            </a:avLst>
          </a:prstGeom>
          <a:solidFill>
            <a:srgbClr val="E6F5F3"/>
          </a:solidFill>
          <a:ln w="12700">
            <a:solidFill>
              <a:srgbClr val="E6F5F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783080"/>
            <a:ext cx="548640" cy="5486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18288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為什麼做、做什麼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4688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策略背景、市場與痛點、產品平台與三變體（p3–11）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97680" y="1554480"/>
            <a:ext cx="3566160" cy="2011680"/>
          </a:xfrm>
          <a:prstGeom prst="roundRect">
            <a:avLst>
              <a:gd name="adj" fmla="val 3636"/>
            </a:avLst>
          </a:prstGeom>
          <a:solidFill>
            <a:srgbClr val="E6F5F3"/>
          </a:solidFill>
          <a:ln w="12700">
            <a:solidFill>
              <a:srgbClr val="E6F5F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26280" y="1783080"/>
            <a:ext cx="548640" cy="5486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2628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212080" y="18288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技術與成本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526280" y="24688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三電架構、電池平台化、控制邏輯、BOM 與出廠價（p12–16）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46720" y="1554480"/>
            <a:ext cx="3566160" cy="2011680"/>
          </a:xfrm>
          <a:prstGeom prst="roundRect">
            <a:avLst>
              <a:gd name="adj" fmla="val 3636"/>
            </a:avLst>
          </a:prstGeom>
          <a:solidFill>
            <a:srgbClr val="E6F5F3"/>
          </a:solidFill>
          <a:ln w="12700">
            <a:solidFill>
              <a:srgbClr val="E6F5F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75320" y="1783080"/>
            <a:ext cx="548640" cy="5486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7532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961120" y="18288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商業模式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275320" y="24688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車體賣斷 + 電池訂閱、訂閱費堆疊、入手價與 TCO（p17–20）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3840480"/>
            <a:ext cx="3566160" cy="2011680"/>
          </a:xfrm>
          <a:prstGeom prst="roundRect">
            <a:avLst>
              <a:gd name="adj" fmla="val 3636"/>
            </a:avLst>
          </a:prstGeom>
          <a:solidFill>
            <a:srgbClr val="E6F5F3"/>
          </a:solidFill>
          <a:ln w="12700">
            <a:solidFill>
              <a:srgbClr val="E6F5F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7240" y="4069080"/>
            <a:ext cx="548640" cy="5486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77240" y="4069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1463040" y="41148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通路與營運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777240" y="47548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歐洲、日本三條付款路徑、台灣、供應鏈與電池池、法規（p21–25）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297680" y="3840480"/>
            <a:ext cx="3566160" cy="2011680"/>
          </a:xfrm>
          <a:prstGeom prst="roundRect">
            <a:avLst>
              <a:gd name="adj" fmla="val 3636"/>
            </a:avLst>
          </a:prstGeom>
          <a:solidFill>
            <a:srgbClr val="E6F5F3"/>
          </a:solidFill>
          <a:ln w="12700">
            <a:solidFill>
              <a:srgbClr val="E6F5F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26280" y="4069080"/>
            <a:ext cx="548640" cy="5486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526280" y="4069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5212080" y="41148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護城河與財務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4526280" y="47548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什麼是護城河、五年財務、路線選擇與門檻（p26–29）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046720" y="3840480"/>
            <a:ext cx="3566160" cy="2011680"/>
          </a:xfrm>
          <a:prstGeom prst="roundRect">
            <a:avLst>
              <a:gd name="adj" fmla="val 3636"/>
            </a:avLst>
          </a:prstGeom>
          <a:solidFill>
            <a:srgbClr val="E6F5F3"/>
          </a:solidFill>
          <a:ln w="12700">
            <a:solidFill>
              <a:srgbClr val="E6F5F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275320" y="4069080"/>
            <a:ext cx="548640" cy="5486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275320" y="4069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8961120" y="41148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行動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8275320" y="47548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里程碑、資金需求、下一步（p30）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執行摘要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先建合規電池平台，再用門檻決定要不要放大低價整車訂閱；兩條路共用同一個電池池與合規骨幹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24712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達方電子 E-mobility｜三電系統開發商業計劃書 v1.1｜內部策略研究，非投資建議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F3FAF8"/>
          </a:solidFill>
          <a:ln w="12700">
            <a:solidFill>
              <a:srgbClr val="E6F5F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55448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RMB 944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1945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平地版出廠價（不含電池，ODM 13%），NT$4,285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29000" y="146304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F3FAF8"/>
          </a:solidFill>
          <a:ln w="12700">
            <a:solidFill>
              <a:srgbClr val="E6F5F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66160" y="155448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€184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3566160" y="21945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歐洲 DTC 入手價，比最低價合法 e-bike €699 低 74%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309360" y="146304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F3FAF8"/>
          </a:solidFill>
          <a:ln w="12700">
            <a:solidFill>
              <a:srgbClr val="E6F5F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46520" y="155448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€7.9–12.9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21945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電池 + 充電器月費（台灣 NT$249–399、日本 ¥980–1,680）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189720" y="1463040"/>
            <a:ext cx="2468880" cy="1234440"/>
          </a:xfrm>
          <a:prstGeom prst="roundRect">
            <a:avLst>
              <a:gd name="adj" fmla="val 5926"/>
            </a:avLst>
          </a:prstGeom>
          <a:solidFill>
            <a:srgbClr val="F3FAF8"/>
          </a:solidFill>
          <a:ln w="12700">
            <a:solidFill>
              <a:srgbClr val="E6F5F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326880" y="15544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RMB 186/台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9326880" y="21945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結構性成本優勢，佔 V3 基準出廠價 14%</a:t>
            </a:r>
            <a:endParaRPr lang="en-US" sz="10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926080"/>
          <a:ext cx="111099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9098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問題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結論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產品是什麼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單速、無儀表、商品化 250W 輪轂、公版車架、電池掛載車架且電芯級可換；三變體只差感測、輪徑齒比、馬達扭矩與煞車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為什麼能便宜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電池與充電器（RMB 322）移出車價；含電池則任何量級都達不到 NT$6,000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怎麼收錢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車體以 DTC 或零利率分期賣斷；電池 + 充電器 + SoH&lt;70% 換新 + 失竊補償收月費；演算法免費 OTA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護城河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不在硬體、低價或手感數據；在持有電池資產 + 看得到里程的成本優勢，加上法規把電池責任變收費項目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兩條路怎麼選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C1 合規電池平台零資產、能力現成、第 5 年 EBIT NT$110M；B2C SAM 大一個數量級但靠 CAC；先 C1、後 B2C，五項門檻決定放大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策略背景：8/28 會議的四句話決定了所有設計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三電是核心技術不是販售品項；蘇州採購與輕組裝；品牌通路歸 GROFA；毛利 15% 以上、不重資產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24712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達方電子 E-mobility｜三電系統開發商業計劃書 v1.1｜內部策略研究，非投資建議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486400" cy="2148840"/>
          </a:xfrm>
          <a:prstGeom prst="roundRect">
            <a:avLst>
              <a:gd name="adj" fmla="val 3404"/>
            </a:avLst>
          </a:prstGeom>
          <a:solidFill>
            <a:srgbClr val="E6F5F3"/>
          </a:solidFill>
          <a:ln w="12700">
            <a:solidFill>
              <a:srgbClr val="E6F5F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572768"/>
            <a:ext cx="5157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三電是核心技術，不是販售品項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1938528"/>
            <a:ext cx="5157216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三電只隨自有平台整車出貨；控制器、韌體、BMS 與資料協定由達方掌握，馬達與車架外購商品化件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1463040"/>
            <a:ext cx="5486400" cy="2148840"/>
          </a:xfrm>
          <a:prstGeom prst="roundRect">
            <a:avLst>
              <a:gd name="adj" fmla="val 3404"/>
            </a:avLst>
          </a:prstGeom>
          <a:solidFill>
            <a:srgbClr val="E6F5F3"/>
          </a:solidFill>
          <a:ln w="12700">
            <a:solidFill>
              <a:srgbClr val="E6F5F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82512" y="1572768"/>
            <a:ext cx="5157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蘇州採購與輕組裝、世同／太宇 ODM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382512" y="1938528"/>
            <a:ext cx="5157216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歐洲版走台灣／越南廠避開 AD+CVD，日本版走中國廠；蘇州負責中系零件與電池包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840480"/>
            <a:ext cx="5486400" cy="2148840"/>
          </a:xfrm>
          <a:prstGeom prst="roundRect">
            <a:avLst>
              <a:gd name="adj" fmla="val 3404"/>
            </a:avLst>
          </a:prstGeom>
          <a:solidFill>
            <a:srgbClr val="E6F5F3"/>
          </a:solidFill>
          <a:ln w="12700">
            <a:solidFill>
              <a:srgbClr val="E6F5F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13232" y="3950208"/>
            <a:ext cx="5157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品牌通路歸 GROFA、BESV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13232" y="4315968"/>
            <a:ext cx="5157216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歐洲 DTC 與經銷由 GROFA 承接；日本低價車以通路 PB 進入、不掛 BESV，但用 BESV JAPAN 的取證與進口資格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17920" y="3840480"/>
            <a:ext cx="5486400" cy="2148840"/>
          </a:xfrm>
          <a:prstGeom prst="roundRect">
            <a:avLst>
              <a:gd name="adj" fmla="val 3404"/>
            </a:avLst>
          </a:prstGeom>
          <a:solidFill>
            <a:srgbClr val="E6F5F3"/>
          </a:solidFill>
          <a:ln w="12700">
            <a:solidFill>
              <a:srgbClr val="E6F5F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82512" y="3950208"/>
            <a:ext cx="5157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毛利 15% 以上、不重資產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382512" y="4315968"/>
            <a:ext cx="5157216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硬體毛利 20%；電池訂閱單戶淨值為正；電池由 SPV 持有時達方峰值資金約 NT$18M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集團既有資產：不新建產能，只把現有能力接起來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BESV 2026/06 內部錨點證明小量採購鏈在低價段無競爭力，必須改走蘇州直採與商品化件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24712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達方電子 E-mobility｜三電系統開發商業計劃書 v1.1｜內部策略研究，非投資建議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1099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572000"/>
                <a:gridCol w="41605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資產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內容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在本計劃中的角色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達宇電池、蘇州採購平台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電芯來源與電池包組裝；中系電芯 NT$2.8/Wh 級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電池包（電芯級可換）與三種容量的供應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達方捷克廠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年產 30 萬組 e-bike 電池；Shimano 認證替換電池；Stromer 客製包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歐洲落地與合規電池平台的現成基數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世同（越南）、太宇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ODM 整車組裝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歐洲版整車製造；ODM 毛利 13–18%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BESV、GROFA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歐洲品牌與經銷網、DTC；GROFA 為德國法定電池生產者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歐洲出海口、以換代修經銷點、合規服務通路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BESV JAPAN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型式認定 know-how、PSE 届出資格、輸入申告名義人、100+ 試乘店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日本進口與認證載體；低價車不掛 BESV 品牌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達瑞 actuator 主軸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馬達控制韌體與 FOC 經驗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控制器韌體（速度保持與 2:1 兩套）共用團隊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為什麼是現在：四個時間點同時打開窗口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2027/2/18 電池法、AD+CVD 再延五年、日本類別污名化、歐洲整車訂閱集體退場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24712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達方電子 E-mobility｜三電系統開發商業計劃書 v1.1｜內部策略研究，非投資建議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486400" cy="2148840"/>
          </a:xfrm>
          <a:prstGeom prst="roundRect">
            <a:avLst>
              <a:gd name="adj" fmla="val 3404"/>
            </a:avLst>
          </a:prstGeom>
          <a:solidFill>
            <a:srgbClr val="E6F5F3"/>
          </a:solidFill>
          <a:ln w="12700">
            <a:solidFill>
              <a:srgbClr val="E6F5F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572768"/>
            <a:ext cx="5157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2027/2/18 歐盟電池法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1938528"/>
            <a:ext cx="5157216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LMT 電池護照、可拆換（Omnibus VIII 改為模組層級）、五年備品。賣斷品牌當成本，持有電池資產者當收費項目；先行者約兩年窗口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1463040"/>
            <a:ext cx="5486400" cy="2148840"/>
          </a:xfrm>
          <a:prstGeom prst="roundRect">
            <a:avLst>
              <a:gd name="adj" fmla="val 3404"/>
            </a:avLst>
          </a:prstGeom>
          <a:solidFill>
            <a:srgbClr val="E6F5F3"/>
          </a:solidFill>
          <a:ln w="12700">
            <a:solidFill>
              <a:srgbClr val="E6F5F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82512" y="1572768"/>
            <a:ext cx="5157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AD+CVD 再延 5 年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382512" y="1938528"/>
            <a:ext cx="5157216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中國製整車最高 85–93% 從價稅，把中國低價品牌擋在門外；台越製 6% MFN 是結構性優勢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840480"/>
            <a:ext cx="5486400" cy="2148840"/>
          </a:xfrm>
          <a:prstGeom prst="roundRect">
            <a:avLst>
              <a:gd name="adj" fmla="val 3404"/>
            </a:avLst>
          </a:prstGeom>
          <a:solidFill>
            <a:srgbClr val="E6F5F3"/>
          </a:solidFill>
          <a:ln w="12700">
            <a:solidFill>
              <a:srgbClr val="E6F5F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13232" y="3950208"/>
            <a:ext cx="5157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日本低價電助力車被官方點名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13232" y="4315968"/>
            <a:ext cx="5157216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國民生活中心測試 10 款網購車 9 款不合規；有型式認定的低價合規車是空缺，BESV JAPAN 有取證能力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17920" y="3840480"/>
            <a:ext cx="5486400" cy="2148840"/>
          </a:xfrm>
          <a:prstGeom prst="roundRect">
            <a:avLst>
              <a:gd name="adj" fmla="val 3404"/>
            </a:avLst>
          </a:prstGeom>
          <a:solidFill>
            <a:srgbClr val="E6F5F3"/>
          </a:solidFill>
          <a:ln w="12700">
            <a:solidFill>
              <a:srgbClr val="E6F5F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82512" y="3950208"/>
            <a:ext cx="5157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歐洲整車訂閱退場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382512" y="4315968"/>
            <a:ext cx="5157216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Dance 售予 Swapfiets、Buzzbike 關門、Swapfiets 會員持平：租整車不成立，沒人試過只租電池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三個目標市場：入手價對照最低價合法 e-bike 與一般自行車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逆向打擊傳統車只在歐洲成立；日本打的是電助力車與載童車；台灣擠進通勤車帶上緣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24712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達方電子 E-mobility｜三電系統開發商業計劃書 v1.1｜內部策略研究，非投資建議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10996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377440"/>
                <a:gridCol w="2194560"/>
                <a:gridCol w="1645920"/>
                <a:gridCol w="1920240"/>
                <a:gridCol w="18745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市場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規模與價格帶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最低價合法 e-bike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一般自行車均價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本案入手價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觀察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歐洲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e-bike 年銷 4.5–5.0M，存量市場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Action E200／Lidl €699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€500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€184 + €9.9/月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入手價低於一般自行車；JobRad 通路 €2.8B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日本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電助力 77–80 萬台/年，POS 均價 ¥130,663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PELTECH ¥89,980；Cainz PB ¥59,800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軽快車 ¥28,729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¥48,666 + ¥1,280/月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三大廠寡占；型式認定以整車為單位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台灣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內需無公開統計；2025 出口 33.7 萬台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入門電輔車約 NT$15,000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通勤車 NT$4,000–7,000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NT$7,165 + NT$299/月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整車審驗含電池；無訂閱先例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Chart 0" descr=""/>
          <p:cNvGraphicFramePr/>
          <p:nvPr/>
        </p:nvGraphicFramePr>
        <p:xfrm>
          <a:off x="548640" y="3931920"/>
          <a:ext cx="548640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4"/>
          <p:cNvSpPr/>
          <p:nvPr/>
        </p:nvSpPr>
        <p:spPr>
          <a:xfrm>
            <a:off x="6400800" y="3931920"/>
            <a:ext cx="5257800" cy="2286000"/>
          </a:xfrm>
          <a:prstGeom prst="roundRect">
            <a:avLst>
              <a:gd name="adj" fmla="val 3200"/>
            </a:avLst>
          </a:prstGeom>
          <a:solidFill>
            <a:srgbClr val="E6F5F3"/>
          </a:solidFill>
          <a:ln w="12700">
            <a:solidFill>
              <a:srgbClr val="E6F5F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565392" y="4041648"/>
            <a:ext cx="4928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入手價降幅怎麼讀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6565392" y="4407408"/>
            <a:ext cx="4928616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歐洲 −74% 對 Action E200、−63% 對一般自行車均價 €500，是三個市場中唯一把 e-bike 前置費用壓到一般自行車以下的地方。日本 −19% 對 Cainz PB，靠的是電池不在車價內；台灣 −52% 對入門電輔車，但比通勤車貴 30%。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城市通勤者的真痛點：解得掉的、同業也解得掉的、明確放棄的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通勤者要的是以最輕鬆的姿態維持 20–25 km/h，加上不搬車、不怕電池壞、不找車行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24712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達方電子 E-mobility｜三電系統開發商業計劃書 v1.1｜內部策略研究，非投資建議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10996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1005840"/>
                <a:gridCol w="3017520"/>
                <a:gridCol w="2194560"/>
                <a:gridCol w="1234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痛點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真實性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本案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對手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判定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電池衰退、第 4 年換電池 €250／¥35,000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高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訂閱含 SoH&lt;70% 換新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賣斷品牌做不到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真差異化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售後工時黑洞（歐洲 €150/次）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高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後輪總成以換代修、電池到店換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需逆物流網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真差異化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上樓充電、整車搬運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高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1.4 kg 電池 5 秒抽出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可拆電池已普及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同業水準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變速器掉鏈、油污、後撥撞歪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中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單速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Tenways 已驗證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同業水準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入手價門檻 €699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高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€184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可拆分電池，無訂閱營運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中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坡地、長距離、載小孩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高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坡地載童版：扭力 + 20 吋 + 45 N·m + 後碟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中置 + 內三速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有條件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4846320"/>
            <a:ext cx="11109960" cy="1371600"/>
          </a:xfrm>
          <a:prstGeom prst="roundRect">
            <a:avLst>
              <a:gd name="adj" fmla="val 5333"/>
            </a:avLst>
          </a:prstGeom>
          <a:solidFill>
            <a:srgbClr val="E6F5F3"/>
          </a:solidFill>
          <a:ln w="12700">
            <a:solidFill>
              <a:srgbClr val="E6F5F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13232" y="4956048"/>
            <a:ext cx="10780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做與不做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13232" y="5321808"/>
            <a:ext cx="107807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做：平地都會通勤者（台北、東京 23 區、大阪、阿姆斯特丹、柏林）、日本載童家庭、外送與企業車隊。不做：長坡山城、運動騎乘、500Wh 以上長距離、中置與內變速的高階市場，那是 BESV 與 Mondraker 的領域。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產品平台：極簡到只剩使用者感受得到的東西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凡查無量產品或與法規衝突的規格不用；凡會衰退、會被偷、法規要求負責的東西做成訂閱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24712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達方電子 E-mobility｜三電系統開發商業計劃書 v1.1｜內部策略研究，非投資建議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7498080" cy="46863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138160" y="1463040"/>
            <a:ext cx="35661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放棄：分體花鼓、1.35 kg 馬達、韌體解鎖訂閱、輪內電池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保留：輪轂驅動避開五通開模與 Bosch／Shimano 專利、無儀表化、以換代修、單速 + 演算法補償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藍色賣斷、橘色訂閱、綠色隨訂閱提供的軟體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使用者價值一句話：不選檔、不選助力、不擔心電池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三個變體共用一個車體平台，差異化延到總裝段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控制器同時吃踏頻脈衝與扭力訊號，每台多 RMB 1–2；日本版必須扭力感測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24712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達方電子 E-mobility｜三電系統開發商業計劃書 v1.1｜內部策略研究，非投資建議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1099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200400"/>
                <a:gridCol w="2743200"/>
                <a:gridCol w="3154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項目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平地版（歐洲／台灣）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日本平地版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坡地載童版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感測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踏頻 + IMU + 相電流估算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中軸扭力感測（法規）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中軸扭力感測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控制邏輯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速度保持 20／22／25 km/h，22–25 線性衰減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2:1 → 0 線性遞減（10–24 km/h）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同日本平地版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輪徑／齒比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26 吋或 700c、44/16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26 吋、44/16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20–24 吋、42/18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馬達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商品化 250W 30–32 N·m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同左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40–45 N·m 級，含溫度感測與降額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煞車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V 煞前後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V 煞前後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後機械碟 + 前 V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車架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公版鋁／鋼、無內走線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公版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幼児二人同乗基準公版、両立スタンド、把手鎖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電池訂閱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180／252Wh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144／202Wh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360Wh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出廠價 @13%（RMB）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944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1,136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1,391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物理檢核：坡地載童版不只是加扭力感測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扭力感測解法規與手感，不解物理；輪端扭矩、齒比與煞車才是瓶頸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24712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達方電子 E-mobility｜三電系統開發商業計劃書 v1.1｜內部策略研究，非投資建議</a:t>
            </a:r>
            <a:endParaRPr lang="en-US" sz="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576072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720090"/>
                <a:gridCol w="1120140"/>
                <a:gridCol w="1120140"/>
                <a:gridCol w="120015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情境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坡度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輪端扭矩 26 吋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輪端扭矩 20 吋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商品化 32 N·m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平地通勤 100 kg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8%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28.5 N·m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21.9 N·m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剛好夠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平地通勤 100 kg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35.0 N·m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26.9 N·m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26 吋不夠、20 吋夠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載童 125 kg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8%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35.5 N·m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27.3 N·m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26 吋不夠、20 吋夠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載童 125 kg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43.6 N·m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33.5 N·m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需 45 N·m 級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1463040"/>
          <a:ext cx="51663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914400"/>
                <a:gridCol w="914400"/>
                <a:gridCol w="960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日本 2:1、載童 125 kg、8% 坡、8 km/h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26 吋 44/16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26 吋 38/18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20 吋 42/18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踏頻 rpm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36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騎士曲柄扭矩 N·m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32.5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25.0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21.2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70 rpm 巡航 km/h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23.9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18.4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15.6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判定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做不到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貼上限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可行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48640" y="4206240"/>
            <a:ext cx="11109960" cy="2011680"/>
          </a:xfrm>
          <a:prstGeom prst="roundRect">
            <a:avLst>
              <a:gd name="adj" fmla="val 3636"/>
            </a:avLst>
          </a:prstGeom>
          <a:solidFill>
            <a:srgbClr val="E6F5F3"/>
          </a:solidFill>
          <a:ln w="12700">
            <a:solidFill>
              <a:srgbClr val="E6F5F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13232" y="4315968"/>
            <a:ext cx="10780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結論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713232" y="4681728"/>
            <a:ext cx="10780776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騎士要出 80 W；26 吋 44/16 踏頻只有 23 rpm、曲柄扭矩 32.5 N·m，一般人做不到；改 20 吋 42/18 後踏頻 36 rpm、曲柄扭矩 21.2 N·m 落在可行區，巡航 15.6 km/h 符合日本媽媽車習慣。單速可以保留，單一齒比不行；小輪徑與低齒比幾乎不花錢，卻決定變體能否成立。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技術架構：三電規格與成本錨點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馬達、控制器、感測、HMI、電池包、充電器；控制器整合側蓋是唯一同時降本又降故障率的一項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24712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達方電子 E-mobility｜三電系統開發商業計劃書 v1.1｜內部策略研究，非投資建議</a:t>
            </a:r>
            <a:endParaRPr lang="en-US" sz="9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10996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4206240"/>
                <a:gridCol w="2011680"/>
                <a:gridCol w="37033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子系統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規格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成本錨點（RMB）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來源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馬達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250W 齒輪後輪轂，2.3–3.0 kg，30–32 N·m，135mm，螺紋單飛座；坡地版 40–45 N·m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205；45 N·m 級 +80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常州 Found US$34–45；Bafang RM G010 FOB US$69–79；八方／安乃達 ASP RMB 230–335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控制器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36V 15A 正弦波，整合側蓋，雙訊號輸入，OTP 限速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60（整合省 23–41）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外掛 US$7.2 @100 pc + 外殼線束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感測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12 磁踏頻 + IMU；日本版中軸扭力 0–80 N·m IP66；煞把斷電 ×2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8／160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PAS US$1.99；扭力 US$28–30 @100 pc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HMI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上管單鍵 + 3 段 LED；APP 只讀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LCD US$8.4–10.2 對照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電池包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36V 180／252／360Wh；螺絲殼、電芯座、彈簧接點；BMS 含 BLE 與護照資料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282（180Wh）；電芯級可換 +20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電芯 RMB 0.66/Wh；固定成本 120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充電器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36V 2A CE／GS；日本 ◇PSE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Alibaba US$6.5–11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電芯級可更換電池包與後輪轂總成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三容量同殼不同填充率；電池放車架不放輪內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24712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達方電子 E-mobility｜三電系統開發商業計劃書 v1.1｜內部策略研究，非投資建議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7680960" cy="4800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321040" y="1463040"/>
            <a:ext cx="338328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上蓋 8 顆螺絲、BMS 含護照資料、彈簧接點匯流排取代點焊、20 顆電芯獨立槽位、下殼滑軌與鑰匙鎖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輪內母模：車體出廠價 +47%、月費 +38%，且電池被馬達加熱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車架包可拆增量為零；電芯級可換 +RMB 20，翻新一次省 RMB 79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歐盟電池法 Art.11：Omnibus VIII 改為模組層級可換，電芯座設計仍是翻新成本的工程基礎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控制邏輯：一顆控制器、兩套韌體、都鎖 OTP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平地版速度保持，日本版 2:1 遞減；APP 只讀，不開放曲線調整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24712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達方電子 E-mobility｜三電系統開發商業計劃書 v1.1｜內部策略研究，非投資建議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440680" cy="2286000"/>
          </a:xfrm>
          <a:prstGeom prst="roundRect">
            <a:avLst>
              <a:gd name="adj" fmla="val 3200"/>
            </a:avLst>
          </a:prstGeom>
          <a:solidFill>
            <a:srgbClr val="E6F5F3"/>
          </a:solidFill>
          <a:ln w="12700">
            <a:solidFill>
              <a:srgbClr val="E6F5F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572768"/>
            <a:ext cx="5111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平地版：速度保持模式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1938528"/>
            <a:ext cx="5111496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使用者只選目標速度 20／22／25 km/h；只要在踩踏，馬達補足維持速度所需功率；0–8 km/h 高電流起步、22–25 線性衰減、25 歸零。閉環的是速度，正是通勤者在意的變數。EN 15194 允許純踏頻 PAS，台灣道安規則無助力比要求。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1463040"/>
            <a:ext cx="5440680" cy="2286000"/>
          </a:xfrm>
          <a:prstGeom prst="roundRect">
            <a:avLst>
              <a:gd name="adj" fmla="val 3200"/>
            </a:avLst>
          </a:prstGeom>
          <a:solidFill>
            <a:srgbClr val="E6F5F3"/>
          </a:solidFill>
          <a:ln w="12700">
            <a:solidFill>
              <a:srgbClr val="E6F5F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82512" y="1572768"/>
            <a:ext cx="5111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日本版：2:1 遞減模式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382512" y="1938528"/>
            <a:ext cx="5111496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助力比以人力為分母：10 km/h 以下最大 1:2、10–24 km/h 線性遞減、24 歸零；必須量測踩踏扭力。國民生活中心 2023 年測試與京都府警刑事追訴說明這一項沒有省的空間。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977640"/>
            <a:ext cx="5440680" cy="2194560"/>
          </a:xfrm>
          <a:prstGeom prst="roundRect">
            <a:avLst>
              <a:gd name="adj" fmla="val 3333"/>
            </a:avLst>
          </a:prstGeom>
          <a:solidFill>
            <a:srgbClr val="E6F5F3"/>
          </a:solidFill>
          <a:ln w="12700">
            <a:solidFill>
              <a:srgbClr val="E6F5F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13232" y="4087368"/>
            <a:ext cx="5111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防篡改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13232" y="4453128"/>
            <a:ext cx="5111496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EN 15194 §4.2.17.2 將最大功率與助力車速列為防篡改參數；兩套韌體鎖 OTP、出廠依市場燒錄；日本型式認定基準要求馬達構造難以改造。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17920" y="3977640"/>
            <a:ext cx="5440680" cy="2194560"/>
          </a:xfrm>
          <a:prstGeom prst="roundRect">
            <a:avLst>
              <a:gd name="adj" fmla="val 3333"/>
            </a:avLst>
          </a:prstGeom>
          <a:solidFill>
            <a:srgbClr val="E6F5F3"/>
          </a:solidFill>
          <a:ln w="12700">
            <a:solidFill>
              <a:srgbClr val="E6F5F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82512" y="4087368"/>
            <a:ext cx="5111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演算法的角色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382512" y="4453128"/>
            <a:ext cx="5111496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它是免費的體驗承諾（不選檔、不選助力、不擔心電池），不是護城河：4–8 個參數對手 2–3 趟收斂，歐盟資料法要求資料可攜。它的真正角色是電池訂閱的感測器，讓營運商知道該給誰多大的電池。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成本：量級決定一切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台越廠、不含電池的整車 BOM（USD）；馬達、車架、輪組佔六成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24712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達方電子 E-mobility｜三電系統開發商業計劃書 v1.1｜內部策略研究，非投資建議</a:t>
            </a:r>
            <a:endParaRPr lang="en-US" sz="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658368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143000"/>
                <a:gridCol w="1143000"/>
                <a:gridCol w="11887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指標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10k 台/年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30k 台/年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100k 台/年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三電小計（不含電池）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$80.0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$68.2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$61.0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車體小計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$136.5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$121.0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$112.0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整車 BOM 不含電池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$216.5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$189.2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$173.0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電池 + 充電器（訂閱資產）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$65.0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$57.5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$53.0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出廠價 @10%（不含電池，NT$）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7,456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6,518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5,958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NT$6,000 隱含毛利（不含電池）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-11.8%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2.2%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10.6%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NT$6,000 隱含毛利（含電池）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-45.4%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-27.5%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-16.8%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406640" y="1463040"/>
            <a:ext cx="4251960" cy="4754880"/>
          </a:xfrm>
          <a:prstGeom prst="roundRect">
            <a:avLst>
              <a:gd name="adj" fmla="val 1720"/>
            </a:avLst>
          </a:prstGeom>
          <a:solidFill>
            <a:srgbClr val="E6F5F3"/>
          </a:solidFill>
          <a:ln w="12700">
            <a:solidFill>
              <a:srgbClr val="E6F5F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571232" y="1572768"/>
            <a:ext cx="3922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解讀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571232" y="1938528"/>
            <a:ext cx="3922776" cy="4187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10k 量級不含電池 BOM 比天花板高 US$42，砍掉整組煞車與座艙都補不回來。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30k 量級隱含毛利 2%，只有集團內部 ODM 願意保本接。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100k 量級才是 NT$6,000 的正常成本結構。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含電池則任何量級都是負值：電池必須移出出廠價。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三項無書面報價（馬達、電池、扭力感測）佔不含電池 BOM 35%。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四種配置與三變體的出廠價（RMB，ODM 13%）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電池與充電器移出後，車價對 ODM 毛利率的敏感度同時下降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24712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達方電子 E-mobility｜三電系統開發商業計劃書 v1.1｜內部策略研究，非投資建議</a:t>
            </a:r>
            <a:endParaRPr lang="en-US" sz="9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463040"/>
          <a:ext cx="694944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772400" y="1463040"/>
            <a:ext cx="3886200" cy="4754880"/>
          </a:xfrm>
          <a:prstGeom prst="roundRect">
            <a:avLst>
              <a:gd name="adj" fmla="val 1882"/>
            </a:avLst>
          </a:prstGeom>
          <a:solidFill>
            <a:srgbClr val="E6F5F3"/>
          </a:solidFill>
          <a:ln w="12700">
            <a:solidFill>
              <a:srgbClr val="E6F5F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936992" y="1572768"/>
            <a:ext cx="3557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讀法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936992" y="1938528"/>
            <a:ext cx="3557016" cy="4187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配置 C 出廠價 RMB 944，ODM 從 13% 走到 18% 只差 RMB 58，離 RMB 1,300 有 23–27% 餘裕。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日本平地版 +20%（扭力感測 + 非 BOM）。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坡地載童版 +47%，但對照的是 ¥170,000–187,000 的載童車，價差反而最大。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商業模式：車體賣斷、只有電池訂閱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把有持續成本的東西做成訂閱；馬達與控制器賣斷一次賺毛利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24712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達方電子 E-mobility｜三電系統開發商業計劃書 v1.1｜內部策略研究，非投資建議</a:t>
            </a:r>
            <a:endParaRPr lang="en-US" sz="9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1099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840480"/>
                <a:gridCol w="3108960"/>
                <a:gridCol w="2788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層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內容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誰出錢／誰持有資產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設計理由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L0 車體賣斷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出廠 RMB 944 → 歐洲 DTC €184、台灣 NT$7,165、日本 PB ¥48,666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消費者；或薪資扣抵／零利率分期由通路持有應收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通路自擔呆帳，達方回到賣硬體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L1 電池訂閱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電池 + 充電器 + SoH&lt;70% 換新 + 失竊補償 + 容量升降級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達方或 SPV；每戶資產 €35.6／NT$1,561／¥8,583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只有電池會衰退、會被偷、2027 起有法定義務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L2 軟體與資料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APP 免費：速度設定、SoH、里程、故障碼、失竊定位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達方（成本攤入 L1）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解鎖已裝功能的訂閱不會存活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L3 B2B 車隊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車體賣斷給租賃夥伴，電池訂閱 €12.9–14.9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夥伴持車體；達方只持電池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Zoomo 是唯一穩定運作的訂閱先例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為什麼訂閱標的是電池、不是三電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三電訂閱在 €10 回收期好看，但 €10 站不住；電池訂閱在 €5 就站得住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24712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達方電子 E-mobility｜三電系統開發商業計劃書 v1.1｜內部策略研究，非投資建議</a:t>
            </a:r>
            <a:endParaRPr lang="en-US" sz="9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1099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108960"/>
                <a:gridCol w="2743200"/>
                <a:gridCol w="30632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指標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TCO 模型：三電全訂閱 €15/月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本案：電池訂閱 €9.9/月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差異來源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每戶資產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€204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€40.9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訂閱標的從三電縮到電池 + 充電器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回收期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25.3 個月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9.3 個月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CAC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€120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€30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隨車體成交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訂閱壽命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24 個月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36 個月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綁定車體持有期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單戶淨值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−€70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+€93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損益兩平月費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€25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€6.4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消費者上限 €15 之下有空間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10 萬訂戶車隊資產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€20.4M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€4.1M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符合不重資產</a:t>
                      </a:r>
                      <a:endParaRPr lang="en-US" sz="11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訂閱費怎麼算：七項成本堆疊，按戶固定項約佔一半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月費 = 成本 ÷ (1 − 貢獻 25%) ÷ (1 − 呆帳 − 金流) × (1 + 稅)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24712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達方電子 E-mobility｜三電系統開發商業計劃書 v1.1｜內部策略研究，非投資建議</a:t>
            </a:r>
            <a:endParaRPr lang="en-US" sz="9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463040"/>
          <a:ext cx="512064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0" y="1463040"/>
          <a:ext cx="57150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188720"/>
                <a:gridCol w="1234440"/>
                <a:gridCol w="914400"/>
                <a:gridCol w="7315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市場／容量</a:t>
                      </a:r>
                      <a:endParaRPr lang="en-US" sz="10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堆疊月費</a:t>
                      </a:r>
                      <a:endParaRPr lang="en-US" sz="10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建議定價</a:t>
                      </a:r>
                      <a:endParaRPr lang="en-US" sz="10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回收期（月）</a:t>
                      </a:r>
                      <a:endParaRPr lang="en-US" sz="10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36 月單戶淨值</a:t>
                      </a:r>
                      <a:endParaRPr lang="en-US" sz="10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歐洲 180Wh</a:t>
                      </a:r>
                      <a:endParaRPr lang="en-US" sz="10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€8.1</a:t>
                      </a:r>
                      <a:endParaRPr lang="en-US" sz="10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€7.9</a:t>
                      </a:r>
                      <a:endParaRPr lang="en-US" sz="10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11.9</a:t>
                      </a:r>
                      <a:endParaRPr lang="en-US" sz="10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€46</a:t>
                      </a:r>
                      <a:endParaRPr lang="en-US" sz="10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歐洲 250Wh</a:t>
                      </a:r>
                      <a:endParaRPr lang="en-US" sz="10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€8.5</a:t>
                      </a:r>
                      <a:endParaRPr lang="en-US" sz="10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€9.9</a:t>
                      </a:r>
                      <a:endParaRPr lang="en-US" sz="10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9.3</a:t>
                      </a:r>
                      <a:endParaRPr lang="en-US" sz="10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€93</a:t>
                      </a:r>
                      <a:endParaRPr lang="en-US" sz="10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歐洲 360Wh</a:t>
                      </a:r>
                      <a:endParaRPr lang="en-US" sz="10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€9.2</a:t>
                      </a:r>
                      <a:endParaRPr lang="en-US" sz="10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€12.9</a:t>
                      </a:r>
                      <a:endParaRPr lang="en-US" sz="10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7.5</a:t>
                      </a:r>
                      <a:endParaRPr lang="en-US" sz="10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€163</a:t>
                      </a:r>
                      <a:endParaRPr lang="en-US" sz="10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台灣 180／250／360Wh</a:t>
                      </a:r>
                      <a:endParaRPr lang="en-US" sz="10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NT$220–262</a:t>
                      </a:r>
                      <a:endParaRPr lang="en-US" sz="10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NT$249／299／399</a:t>
                      </a:r>
                      <a:endParaRPr lang="en-US" sz="10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12.0–8.8</a:t>
                      </a:r>
                      <a:endParaRPr lang="en-US" sz="10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NT$2,522–6,338</a:t>
                      </a:r>
                      <a:endParaRPr lang="en-US" sz="10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日本 144／202／360Wh</a:t>
                      </a:r>
                      <a:endParaRPr lang="en-US" sz="10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¥1,101–1,388</a:t>
                      </a:r>
                      <a:endParaRPr lang="en-US" sz="10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¥980／1,280／1,680</a:t>
                      </a:r>
                      <a:endParaRPr lang="en-US" sz="10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20.3–13.2</a:t>
                      </a:r>
                      <a:endParaRPr lang="en-US" sz="10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¥3,740–18,582</a:t>
                      </a:r>
                      <a:endParaRPr lang="en-US" sz="10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48640" y="4389120"/>
            <a:ext cx="11109960" cy="1828800"/>
          </a:xfrm>
          <a:prstGeom prst="roundRect">
            <a:avLst>
              <a:gd name="adj" fmla="val 4000"/>
            </a:avLst>
          </a:prstGeom>
          <a:solidFill>
            <a:srgbClr val="E6F5F3"/>
          </a:solidFill>
          <a:ln w="12700">
            <a:solidFill>
              <a:srgbClr val="E6F5F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13232" y="4498848"/>
            <a:ext cx="10780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定價配套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713232" y="4864608"/>
            <a:ext cx="1078077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電池買斷選項（€129／NT$3,990／¥19,800）作為定價錨並解消保法疑慮；停止付費保留低功率回家模式 30 天；容量升級改月費即可，降級須回收大電池降階給他人。歐洲 180Wh 定 €7.9 略低於堆疊值，刻意壓在替換電池 €120–180 ÷ 24 月的心理錨之下。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消費者總持有成本：歐洲全贏，日本贏在前置費用與車歸自己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訂閱內含第 4 年換電池，買斷方案要另付 €250／¥35,000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24712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達方電子 E-mobility｜三電系統開發商業計劃書 v1.1｜內部策略研究，非投資建議</a:t>
            </a:r>
            <a:endParaRPr lang="en-US" sz="9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5486400" cy="914400"/>
        </p:xfrm>
        <a:graphic>
          <a:graphicData uri="http://schemas.openxmlformats.org/drawingml/2006/table">
            <a:tbl>
              <a:tblPr/>
              <a:tblGrid>
                <a:gridCol w="2300748"/>
                <a:gridCol w="707923"/>
                <a:gridCol w="619432"/>
                <a:gridCol w="619432"/>
                <a:gridCol w="619432"/>
                <a:gridCol w="61943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歐洲（€含稅）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前置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月費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3 年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5 年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8 年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本案 €9.9/月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184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9.9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541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778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1,135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Action E200 買斷 €699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699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849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1,199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1,599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Tenways CGO600 買斷 €1,099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1,099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1,249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1,599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1,999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Swapfiets Power 1 訂閱（還車）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59.9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2,156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3,594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5,750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463040"/>
          <a:ext cx="544068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685800"/>
                <a:gridCol w="640080"/>
                <a:gridCol w="640080"/>
                <a:gridCol w="640080"/>
                <a:gridCol w="640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日本（¥含稅）</a:t>
                      </a:r>
                      <a:endParaRPr lang="en-US" sz="10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前置</a:t>
                      </a:r>
                      <a:endParaRPr lang="en-US" sz="10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月費</a:t>
                      </a:r>
                      <a:endParaRPr lang="en-US" sz="10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2 年</a:t>
                      </a:r>
                      <a:endParaRPr lang="en-US" sz="10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3 年</a:t>
                      </a:r>
                      <a:endParaRPr lang="en-US" sz="10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5 年</a:t>
                      </a:r>
                      <a:endParaRPr lang="en-US" sz="10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本案平地版分期 + ¥1,280（車歸己）</a:t>
                      </a:r>
                      <a:endParaRPr lang="en-US" sz="10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2,632</a:t>
                      </a:r>
                      <a:endParaRPr lang="en-US" sz="10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63,164</a:t>
                      </a:r>
                      <a:endParaRPr lang="en-US" sz="10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94,746</a:t>
                      </a:r>
                      <a:endParaRPr lang="en-US" sz="10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125,466</a:t>
                      </a:r>
                      <a:endParaRPr lang="en-US" sz="10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本案載童版分期 + ¥1,680（車歸己）</a:t>
                      </a:r>
                      <a:endParaRPr lang="en-US" sz="10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3,291</a:t>
                      </a:r>
                      <a:endParaRPr lang="en-US" sz="10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78,987</a:t>
                      </a:r>
                      <a:endParaRPr lang="en-US" sz="10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118,480</a:t>
                      </a:r>
                      <a:endParaRPr lang="en-US" sz="10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158,800</a:t>
                      </a:r>
                      <a:endParaRPr lang="en-US" sz="10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NORUDE ViVi SX 訂閱（還車）</a:t>
                      </a:r>
                      <a:endParaRPr lang="en-US" sz="10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3,520</a:t>
                      </a:r>
                      <a:endParaRPr lang="en-US" sz="10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2,890</a:t>
                      </a:r>
                      <a:endParaRPr lang="en-US" sz="10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72,880</a:t>
                      </a:r>
                      <a:endParaRPr lang="en-US" sz="10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107,560</a:t>
                      </a:r>
                      <a:endParaRPr lang="en-US" sz="10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176,920</a:t>
                      </a:r>
                      <a:endParaRPr lang="en-US" sz="10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PELTECH 買斷 ¥89,980</a:t>
                      </a:r>
                      <a:endParaRPr lang="en-US" sz="10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89,980</a:t>
                      </a:r>
                      <a:endParaRPr lang="en-US" sz="10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99,980</a:t>
                      </a:r>
                      <a:endParaRPr lang="en-US" sz="10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104,980</a:t>
                      </a:r>
                      <a:endParaRPr lang="en-US" sz="10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149,980</a:t>
                      </a:r>
                      <a:endParaRPr lang="en-US" sz="10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48640" y="4114800"/>
            <a:ext cx="11109960" cy="2103120"/>
          </a:xfrm>
          <a:prstGeom prst="roundRect">
            <a:avLst>
              <a:gd name="adj" fmla="val 3478"/>
            </a:avLst>
          </a:prstGeom>
          <a:solidFill>
            <a:srgbClr val="E6F5F3"/>
          </a:solidFill>
          <a:ln w="12700">
            <a:solidFill>
              <a:srgbClr val="E6F5F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13232" y="4224528"/>
            <a:ext cx="10780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讀法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713232" y="4590288"/>
            <a:ext cx="10780776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歐洲：前置少 €515，5 年少 €421，8 年少 €464；「什麼時候輸給買斷」的交叉點不存在。日本：3 年總價與 NORUDE、PELTECH 大致持平，贏的是三件事：前置費用低三成、期末車體歸自己、電池衰退與失竊風險由營運商承擔。載童版對 NORUDE 子乗せ ¥5,690 與 Gyutto ¥170,000 的價差最大，是日本最值得先做的變體。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歐洲通路：DTC + 薪資扣抵 + B2B 車隊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JobRad 型薪資扣抵是歐洲唯一有規模的月付管道，通路自擔資產與呆帳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24712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達方電子 E-mobility｜三電系統開發商業計劃書 v1.1｜內部策略研究，非投資建議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611880" cy="4754880"/>
          </a:xfrm>
          <a:prstGeom prst="roundRect">
            <a:avLst>
              <a:gd name="adj" fmla="val 2025"/>
            </a:avLst>
          </a:prstGeom>
          <a:solidFill>
            <a:srgbClr val="E6F5F3"/>
          </a:solidFill>
          <a:ln w="12700">
            <a:solidFill>
              <a:srgbClr val="E6F5F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572768"/>
            <a:ext cx="3282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DTC + GROFA 經銷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1938528"/>
            <a:ext cx="3282696" cy="4187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車體 €184 DTC、經銷 €297；電池到店換新走經銷點網路，同時是電池法回收義務的接觸點。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97680" y="1463040"/>
            <a:ext cx="3611880" cy="4754880"/>
          </a:xfrm>
          <a:prstGeom prst="roundRect">
            <a:avLst>
              <a:gd name="adj" fmla="val 2025"/>
            </a:avLst>
          </a:prstGeom>
          <a:solidFill>
            <a:srgbClr val="E6F5F3"/>
          </a:solidFill>
          <a:ln w="12700">
            <a:solidFill>
              <a:srgbClr val="E6F5F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462272" y="1572768"/>
            <a:ext cx="3282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薪資扣抵通路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462272" y="1938528"/>
            <a:ext cx="3282696" cy="4187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德國公司自行車租賃 2025 年 €2.8B、72 萬新約、e-bike 佔 78%；員工淨支出 €12–42/月、36 個月後取得所有權。達方賣硬體、收電池月費，CAC 壓到 €30–40。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46720" y="1463040"/>
            <a:ext cx="3611880" cy="4754880"/>
          </a:xfrm>
          <a:prstGeom prst="roundRect">
            <a:avLst>
              <a:gd name="adj" fmla="val 2025"/>
            </a:avLst>
          </a:prstGeom>
          <a:solidFill>
            <a:srgbClr val="E6F5F3"/>
          </a:solidFill>
          <a:ln w="12700">
            <a:solidFill>
              <a:srgbClr val="E6F5F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11312" y="1572768"/>
            <a:ext cx="3282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B2B 車隊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211312" y="1938528"/>
            <a:ext cx="3282696" cy="4187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外送、共享、企業通勤（Zoomo 型客戶）；CAC €30–40、壽命 36 月，電池訂閱 €12.9–14.9；車體由租賃夥伴持有。同時是 duty cycle 資料與 SLA 實證的試點場。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日本三條付款路徑：沒有 JobRad，但分期與法人租賃拼得出來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公司借車給員工屬現物給與全額課稅；通勤手當免稅是現金不是車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24712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達方電子 E-mobility｜三電系統開發商業計劃書 v1.1｜內部策略研究，非投資建議</a:t>
            </a:r>
            <a:endParaRPr lang="en-US" sz="9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463040"/>
          <a:ext cx="585216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0" y="1463040"/>
          <a:ext cx="507492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097280"/>
                <a:gridCol w="822960"/>
                <a:gridCol w="960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路徑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3 年總支出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期末車體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營運商單戶淨值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① 零利率分期 + 電池訂閱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¥94,746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消費者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+¥11,154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②A 公司付電池、員工買車體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¥57,882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員工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+¥13,992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②B 公司全額租賃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¥21,596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公司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+¥13,992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③ ふるさと納税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¥32,720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消費者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+¥14,154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6583680" y="3931920"/>
            <a:ext cx="5074920" cy="2286000"/>
          </a:xfrm>
          <a:prstGeom prst="roundRect">
            <a:avLst>
              <a:gd name="adj" fmla="val 3200"/>
            </a:avLst>
          </a:prstGeom>
          <a:solidFill>
            <a:srgbClr val="E6F5F3"/>
          </a:solidFill>
          <a:ln w="12700">
            <a:solidFill>
              <a:srgbClr val="E6F5F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748272" y="4041648"/>
            <a:ext cx="4745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判讀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6748272" y="4407408"/>
            <a:ext cx="4745736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主打①：與 NORUDE 同月付、3 年少 ¥12,814、車歸自己。法人通路每戶多 ¥2,838，最順結構是公司付電池、員工買車體。③需寄付 ¥233,420，年收約 1,300 萬圓以上才能全額扣除，且需在地組裝，不是主通路。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台灣的角色與進入順序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台灣是種子車隊與 duty cycle 資料的來源；歐洲先、日本後、規模化在第三年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24712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達方電子 E-mobility｜三電系統開發商業計劃書 v1.1｜內部策略研究，非投資建議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840480" cy="2194560"/>
          </a:xfrm>
          <a:prstGeom prst="roundRect">
            <a:avLst>
              <a:gd name="adj" fmla="val 3333"/>
            </a:avLst>
          </a:prstGeom>
          <a:solidFill>
            <a:srgbClr val="E6F5F3"/>
          </a:solidFill>
          <a:ln w="12700">
            <a:solidFill>
              <a:srgbClr val="E6F5F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572768"/>
            <a:ext cx="3511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台灣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1938528"/>
            <a:ext cx="3511296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入手價 NT$7,165 只擠進通勤車帶上緣，靠 DTC 或低抽成通路；型式審驗以整車含電池型號為單位，電池訂閱以同型號、所有權保留結構操作，須向公路局與 VSCC 確認。</a:t>
            </a:r>
            <a:endParaRPr lang="en-US" sz="115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1463040"/>
          <a:ext cx="70866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280160"/>
                <a:gridCol w="2011680"/>
                <a:gridCol w="960120"/>
                <a:gridCol w="1097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階段</a:t>
                      </a:r>
                      <a:endParaRPr lang="en-US" sz="10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時程</a:t>
                      </a:r>
                      <a:endParaRPr lang="en-US" sz="10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市場與通路</a:t>
                      </a:r>
                      <a:endParaRPr lang="en-US" sz="10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量</a:t>
                      </a:r>
                      <a:endParaRPr lang="en-US" sz="10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目的</a:t>
                      </a:r>
                      <a:endParaRPr lang="en-US" sz="10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Phase 0 種子車隊</a:t>
                      </a:r>
                      <a:endParaRPr lang="en-US" sz="10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2026 Q4–2027 Q2</a:t>
                      </a:r>
                      <a:endParaRPr lang="en-US" sz="10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台北 + 阿姆斯特丹 B2B 車隊</a:t>
                      </a:r>
                      <a:endParaRPr lang="en-US" sz="10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500–1,000 台</a:t>
                      </a:r>
                      <a:endParaRPr lang="en-US" sz="10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duty cycle 分布、電池分群、翻新流程</a:t>
                      </a:r>
                      <a:endParaRPr lang="en-US" sz="10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Phase 1 歐洲 DTC + 薪資扣抵</a:t>
                      </a:r>
                      <a:endParaRPr lang="en-US" sz="10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2027 H2</a:t>
                      </a:r>
                      <a:endParaRPr lang="en-US" sz="10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GROFA DTC、JobRad 型通路</a:t>
                      </a:r>
                      <a:endParaRPr lang="en-US" sz="10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4,000 台</a:t>
                      </a:r>
                      <a:endParaRPr lang="en-US" sz="10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入手價驗證、經銷點換電流程</a:t>
                      </a:r>
                      <a:endParaRPr lang="en-US" sz="10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Phase 2 日本 PB + 法人</a:t>
                      </a:r>
                      <a:endParaRPr lang="en-US" sz="10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2028</a:t>
                      </a:r>
                      <a:endParaRPr lang="en-US" sz="10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Cainz／ドンキ PB、法人租賃、NORUDE 型業者</a:t>
                      </a:r>
                      <a:endParaRPr lang="en-US" sz="10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7,500 台</a:t>
                      </a:r>
                      <a:endParaRPr lang="en-US" sz="10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型式認定三型、PSE、日本電池池</a:t>
                      </a:r>
                      <a:endParaRPr lang="en-US" sz="10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Phase 3 規模化</a:t>
                      </a:r>
                      <a:endParaRPr lang="en-US" sz="10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2029–2031</a:t>
                      </a:r>
                      <a:endParaRPr lang="en-US" sz="10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三市場 + B2B 車隊</a:t>
                      </a:r>
                      <a:endParaRPr lang="en-US" sz="10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50k → 110k 台/年</a:t>
                      </a:r>
                      <a:endParaRPr lang="en-US" sz="10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出廠價達標、翻新中心滿載、SPV 承接電池</a:t>
                      </a:r>
                      <a:endParaRPr lang="en-US" sz="10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548640" y="3840480"/>
            <a:ext cx="11109960" cy="2377440"/>
          </a:xfrm>
          <a:prstGeom prst="roundRect">
            <a:avLst>
              <a:gd name="adj" fmla="val 3077"/>
            </a:avLst>
          </a:prstGeom>
          <a:solidFill>
            <a:srgbClr val="E6F5F3"/>
          </a:solidFill>
          <a:ln w="12700">
            <a:solidFill>
              <a:srgbClr val="E6F5F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13232" y="3950208"/>
            <a:ext cx="10780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日本品牌與通路原則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713232" y="4315968"/>
            <a:ext cx="10780776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低價車以通路 PB（Cainz、ドンキ）或第四品牌進入，不掛 BESV，避免拉垮 ¥140,000–700,000 的價格架構；但用 BESV JAPAN 的型式認定、PSE 届出與輸入申告名義人資格。日本從載童版開始，因為它對三大廠 ¥170,000 級產品的價差最大。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營運：供應鏈分工、電池池與逆物流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電池所有權始終在營運商；翻新成本約新品 30%；UN3480 走經銷點不走快遞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24712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達方電子 E-mobility｜三電系統開發商業計劃書 v1.1｜內部策略研究，非投資建議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7315200" cy="45720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955280" y="1463040"/>
            <a:ext cx="37490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整車：歐洲版世同（越南）或台灣 ODM；日本版中國廠（蘇州外包）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馬達 + 側蓋控制器：蘇州採購，與馬達廠共同開發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電池包：達宇／蘇州；歐洲落地可用捷克廠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翻新中心：歐洲與日本各一，每包 20–30 分鐘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電池資產由 SPV 或租賃夥伴持有（NORUDE 由 JAIC 持有的模式）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資金峰值：自持 NT$101M → SPV 約 NT$18M</a:t>
            </a:r>
            <a:endParaRPr lang="en-US" sz="11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法規與認證：三個市場的硬約束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三個仍未關閉的法律問題列入 Phase 0：整車認證含電池但所有權在營運商、公司代付訂閱的現物給與、地場產品基準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24712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達方電子 E-mobility｜三電系統開發商業計劃書 v1.1｜內部策略研究，非投資建議</a:t>
            </a:r>
            <a:endParaRPr lang="en-US" sz="9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10996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926080"/>
                <a:gridCol w="3657600"/>
                <a:gridCol w="36118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市場</a:t>
                      </a:r>
                      <a:endParaRPr lang="en-US" sz="10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法規</a:t>
                      </a:r>
                      <a:endParaRPr lang="en-US" sz="10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要求</a:t>
                      </a:r>
                      <a:endParaRPr lang="en-US" sz="10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對應</a:t>
                      </a:r>
                      <a:endParaRPr lang="en-US" sz="10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歐盟</a:t>
                      </a:r>
                      <a:endParaRPr lang="en-US" sz="10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EN 15194、機械法規 2023/1230</a:t>
                      </a:r>
                      <a:endParaRPr lang="en-US" sz="10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250W、25 km/h 漸減、防篡改、閉合零件集</a:t>
                      </a:r>
                      <a:endParaRPr lang="en-US" sz="10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踏頻 PAS 合法；限速鎖 OTP；只有已發布電池可運作</a:t>
                      </a:r>
                      <a:endParaRPr lang="en-US" sz="10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歐盟</a:t>
                      </a:r>
                      <a:endParaRPr lang="en-US" sz="10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電池法 2023/1542 Art.11／60–62／77</a:t>
                      </a:r>
                      <a:endParaRPr lang="en-US" sz="10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可拆換（Omnibus VIII 改模組層級）、回收、護照 2027/2/18</a:t>
                      </a:r>
                      <a:endParaRPr lang="en-US" sz="10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電芯座設計、BMS 護照資料、經銷點回收</a:t>
                      </a:r>
                      <a:endParaRPr lang="en-US" sz="10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歐盟</a:t>
                      </a:r>
                      <a:endParaRPr lang="en-US" sz="10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(EU) 2025/120、2025/114、Reg. 88/97</a:t>
                      </a:r>
                      <a:endParaRPr lang="en-US" sz="10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中國製整車最高 85–93%；零件反規避</a:t>
                      </a:r>
                      <a:endParaRPr lang="en-US" sz="10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台越製；零件來源結構管理</a:t>
                      </a:r>
                      <a:endParaRPr lang="en-US" sz="10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日本</a:t>
                      </a:r>
                      <a:endParaRPr lang="en-US" sz="10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道交法施行規則、型式認定、電気用品安全法</a:t>
                      </a:r>
                      <a:endParaRPr lang="en-US" sz="10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助力比 1:2、整車取證每型 ¥266,000–377,000、充電器 ◇PSE</a:t>
                      </a:r>
                      <a:endParaRPr lang="en-US" sz="10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三型各自取證；BESV JAPAN 資格</a:t>
                      </a:r>
                      <a:endParaRPr lang="en-US" sz="10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日本</a:t>
                      </a:r>
                      <a:endParaRPr lang="en-US" sz="10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幼児二人同乗基準</a:t>
                      </a:r>
                      <a:endParaRPr lang="en-US" sz="10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載童車架強度、両立スタンド、把手鎖</a:t>
                      </a:r>
                      <a:endParaRPr lang="en-US" sz="10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坡地載童版採已通過基準之公版</a:t>
                      </a:r>
                      <a:endParaRPr lang="en-US" sz="10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台灣</a:t>
                      </a:r>
                      <a:endParaRPr lang="en-US" sz="10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道安規則 §115-1、處罰條例 §71、§72-II</a:t>
                      </a:r>
                      <a:endParaRPr lang="en-US" sz="10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整車審驗、合格標章、電池在審驗範圍</a:t>
                      </a:r>
                      <a:endParaRPr lang="en-US" sz="10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整車審驗含電池型號；所有權保留</a:t>
                      </a:r>
                      <a:endParaRPr lang="en-US" sz="10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資料</a:t>
                      </a:r>
                      <a:endParaRPr lang="en-US" sz="10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歐盟資料法 2023/2854</a:t>
                      </a:r>
                      <a:endParaRPr lang="en-US" sz="10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連網產品資料須可攜</a:t>
                      </a:r>
                      <a:endParaRPr lang="en-US" sz="10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不以資料鎖客</a:t>
                      </a:r>
                      <a:endParaRPr lang="en-US" sz="10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護城河：什麼會形成、什麼不會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不是硬體、低價或手感數據；是持有電池資產 + 看得到里程的結構性成本優勢，加上法規鎖定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24712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達方電子 E-mobility｜三電系統開發商業計劃書 v1.1｜內部策略研究，非投資建議</a:t>
            </a:r>
            <a:endParaRPr lang="en-US" sz="9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463040"/>
          <a:ext cx="475488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44348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合計 RMB 186/台，佔 V3 基準出廠價 14%</a:t>
            </a:r>
            <a:endParaRPr lang="en-US" sz="12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1463040"/>
          <a:ext cx="60807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463040"/>
                <a:gridCol w="1463040"/>
                <a:gridCol w="7772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候選</a:t>
                      </a:r>
                      <a:endParaRPr lang="en-US" sz="10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量化</a:t>
                      </a:r>
                      <a:endParaRPr lang="en-US" sz="10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對手複製</a:t>
                      </a:r>
                      <a:endParaRPr lang="en-US" sz="10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判定</a:t>
                      </a:r>
                      <a:endParaRPr lang="en-US" sz="10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依實測 duty cycle 配電池</a:t>
                      </a:r>
                      <a:endParaRPr lang="en-US" sz="10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RMB 117/台</a:t>
                      </a:r>
                      <a:endParaRPr lang="en-US" sz="10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不持有資產者做不到</a:t>
                      </a:r>
                      <a:endParaRPr lang="en-US" sz="10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中強</a:t>
                      </a:r>
                      <a:endParaRPr lang="en-US" sz="10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二次電芯降階</a:t>
                      </a:r>
                      <a:endParaRPr lang="en-US" sz="10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RMB 21/台</a:t>
                      </a:r>
                      <a:endParaRPr lang="en-US" sz="10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需電芯級可換包 + 資產</a:t>
                      </a:r>
                      <a:endParaRPr lang="en-US" sz="10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中</a:t>
                      </a:r>
                      <a:endParaRPr lang="en-US" sz="10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法規鎖定（閉合零件集、電池法義務）</a:t>
                      </a:r>
                      <a:endParaRPr lang="en-US" sz="10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第三方電池無法合法相容</a:t>
                      </a:r>
                      <a:endParaRPr lang="en-US" sz="10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2027 前完成者有兩年窗口</a:t>
                      </a:r>
                      <a:endParaRPr lang="en-US" sz="10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中</a:t>
                      </a:r>
                      <a:endParaRPr lang="en-US" sz="10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電池池與翻新迴圈</a:t>
                      </a:r>
                      <a:endParaRPr lang="en-US" sz="10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年化 RMB 48/台</a:t>
                      </a:r>
                      <a:endParaRPr lang="en-US" sz="10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需逆物流 + 翻新產能</a:t>
                      </a:r>
                      <a:endParaRPr lang="en-US" sz="10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中（規模型）</a:t>
                      </a:r>
                      <a:endParaRPr lang="en-US" sz="10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用戶轉換成本</a:t>
                      </a:r>
                      <a:endParaRPr lang="en-US" sz="10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中度鎖定，也是客訴來源</a:t>
                      </a:r>
                      <a:endParaRPr lang="en-US" sz="10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雙面刃</a:t>
                      </a:r>
                      <a:endParaRPr lang="en-US" sz="10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手感繼承／APP</a:t>
                      </a:r>
                      <a:endParaRPr lang="en-US" sz="10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一週</a:t>
                      </a:r>
                      <a:endParaRPr lang="en-US" sz="10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否</a:t>
                      </a:r>
                      <a:endParaRPr lang="en-US" sz="10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硬體與低價</a:t>
                      </a:r>
                      <a:endParaRPr lang="en-US" sz="10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即時</a:t>
                      </a:r>
                      <a:endParaRPr lang="en-US" sz="10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否</a:t>
                      </a:r>
                      <a:endParaRPr lang="en-US" sz="10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548640" y="4892040"/>
            <a:ext cx="11109960" cy="1325880"/>
          </a:xfrm>
          <a:prstGeom prst="roundRect">
            <a:avLst>
              <a:gd name="adj" fmla="val 5517"/>
            </a:avLst>
          </a:prstGeom>
          <a:solidFill>
            <a:srgbClr val="E6F5F3"/>
          </a:solidFill>
          <a:ln w="12700">
            <a:solidFill>
              <a:srgbClr val="E6F5F3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13232" y="5001768"/>
            <a:ext cx="10780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誠實的反面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713232" y="5367528"/>
            <a:ext cx="1078077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這是營運型而非技術型護城河：持有車隊資產的大品牌 18–24 個月可建同樣迴圈。先行者優勢來自種子車隊資料、2027 前的合規架構與翻新產能，三者都是時間換來的。</a:t>
            </a:r>
            <a:endParaRPr lang="en-US" sz="11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五年財務（B2C 基準，NT$ 百萬）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2027 年 8 千台起、2031 年 11 萬台；訂閱營收在第五年與硬體相當；EBIT 第三年轉正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24712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達方電子 E-mobility｜三電系統開發商業計劃書 v1.1｜內部策略研究，非投資建議</a:t>
            </a:r>
            <a:endParaRPr lang="en-US" sz="9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463040"/>
          <a:ext cx="676656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589520" y="1463040"/>
            <a:ext cx="4069080" cy="1234440"/>
          </a:xfrm>
          <a:prstGeom prst="roundRect">
            <a:avLst>
              <a:gd name="adj" fmla="val 5926"/>
            </a:avLst>
          </a:prstGeom>
          <a:solidFill>
            <a:srgbClr val="F3FAF8"/>
          </a:solidFill>
          <a:ln w="12700">
            <a:solidFill>
              <a:srgbClr val="E6F5F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26680" y="1554480"/>
            <a:ext cx="3794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NT$1,248M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7726680" y="219456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2031 總營收；EBIT NT$160M（13%）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589520" y="2834640"/>
            <a:ext cx="4069080" cy="1234440"/>
          </a:xfrm>
          <a:prstGeom prst="roundRect">
            <a:avLst>
              <a:gd name="adj" fmla="val 5926"/>
            </a:avLst>
          </a:prstGeom>
          <a:solidFill>
            <a:srgbClr val="F3FAF8"/>
          </a:solidFill>
          <a:ln w="12700">
            <a:solidFill>
              <a:srgbClr val="E6F5F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726680" y="2926080"/>
            <a:ext cx="3794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4530A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NT$101M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7726680" y="356616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資金需求峰值（2029，自持電池）；SPV 持有時約 NT$18M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7589520" y="4206240"/>
            <a:ext cx="4069080" cy="1234440"/>
          </a:xfrm>
          <a:prstGeom prst="roundRect">
            <a:avLst>
              <a:gd name="adj" fmla="val 5926"/>
            </a:avLst>
          </a:prstGeom>
          <a:solidFill>
            <a:srgbClr val="F3FAF8"/>
          </a:solidFill>
          <a:ln w="12700">
            <a:solidFill>
              <a:srgbClr val="E6F5F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26680" y="4297680"/>
            <a:ext cx="3794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188,765 戶</a:t>
            </a:r>
            <a:endParaRPr lang="en-US" sz="2600" dirty="0"/>
          </a:p>
        </p:txBody>
      </p:sp>
      <p:sp>
        <p:nvSpPr>
          <p:cNvPr id="15" name="Text 12"/>
          <p:cNvSpPr txBox="1"/>
          <p:nvPr/>
        </p:nvSpPr>
        <p:spPr>
          <a:xfrm>
            <a:off x="7726680" y="493776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2031 在訂戶；五年累計電池資本支出 NT$448M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7589520" y="5532120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假設：組合歐洲 50%／日本平地 18%／日本載童 12%／台灣 20%；附加率 85%、留存 80%、硬體毛利 20%、電池 4 年折舊；未含營運資金、稅負與 SPV 融資成本。</a:t>
            </a:r>
            <a:endParaRPr lang="en-US" sz="9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路線選擇：合規電池平台（C1）vs 低價整車訂閱（B2C）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同一數量級的第五年 EBIT，C1 用三分之一以下的資本與五分之一的變異數取得，且建出 B2C 要用的地基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24712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達方電子 E-mobility｜三電系統開發商業計劃書 v1.1｜內部策略研究，非投資建議</a:t>
            </a:r>
            <a:endParaRPr lang="en-US" sz="9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69494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468880"/>
                <a:gridCol w="24688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面向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C1 合規電池平台 + OEM 服務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B2C 低價整車 + 電池訂閱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第 5 年營收（NT$M）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363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1,248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第 5 年 EBIT（NT$M）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110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160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資金需求峰值（NT$M）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101（SPV 時 18）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悲觀／樂觀 EBIT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42 / 200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43 / 396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要新建的能力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幾乎無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C 端客服、催收、逆物流、車隊、通路、品牌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護城河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車型級鎖定，窗口 2027–2029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電池池 + 資料迴圈，營運型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最大風險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合規被 BMZ／Bafang／橫向 EPR 業者商品化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CAC 回到 €120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右尾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小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大：50 萬戶 ARR 約 NT$2B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26680" y="1463040"/>
          <a:ext cx="393192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640080"/>
                <a:gridCol w="640080"/>
                <a:gridCol w="548640"/>
                <a:gridCol w="640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B2C TAM／SAM／SOM（台/年）</a:t>
                      </a:r>
                      <a:endParaRPr lang="en-US" sz="9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歐洲</a:t>
                      </a:r>
                      <a:endParaRPr lang="en-US" sz="9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日本</a:t>
                      </a:r>
                      <a:endParaRPr lang="en-US" sz="9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台灣</a:t>
                      </a:r>
                      <a:endParaRPr lang="en-US" sz="9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合計</a:t>
                      </a:r>
                      <a:endParaRPr lang="en-US" sz="9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傳統自行車年銷</a:t>
                      </a:r>
                      <a:endParaRPr lang="en-US" sz="9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8M</a:t>
                      </a:r>
                      <a:endParaRPr lang="en-US" sz="9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4M</a:t>
                      </a:r>
                      <a:endParaRPr lang="en-US" sz="9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400k</a:t>
                      </a:r>
                      <a:endParaRPr lang="en-US" sz="9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12.4M</a:t>
                      </a:r>
                      <a:endParaRPr lang="en-US" sz="9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SAM（通勤、價格帶）</a:t>
                      </a:r>
                      <a:endParaRPr lang="en-US" sz="9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2.5M</a:t>
                      </a:r>
                      <a:endParaRPr lang="en-US" sz="9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2.0M</a:t>
                      </a:r>
                      <a:endParaRPr lang="en-US" sz="9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200k</a:t>
                      </a:r>
                      <a:endParaRPr lang="en-US" sz="9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4.7M</a:t>
                      </a:r>
                      <a:endParaRPr lang="en-US" sz="9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SOM 2–5%</a:t>
                      </a:r>
                      <a:endParaRPr lang="en-US" sz="9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50–125k</a:t>
                      </a:r>
                      <a:endParaRPr lang="en-US" sz="9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40–100k</a:t>
                      </a:r>
                      <a:endParaRPr lang="en-US" sz="9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4–10k</a:t>
                      </a:r>
                      <a:endParaRPr lang="en-US" sz="9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94–235k</a:t>
                      </a:r>
                      <a:endParaRPr lang="en-US" sz="9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SAM 金額 NT$B</a:t>
                      </a:r>
                      <a:endParaRPr lang="en-US" sz="9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37</a:t>
                      </a:r>
                      <a:endParaRPr lang="en-US" sz="9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9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2.2</a:t>
                      </a:r>
                      <a:endParaRPr lang="en-US" sz="9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64</a:t>
                      </a:r>
                      <a:endParaRPr lang="en-US" sz="9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7726680" y="4114800"/>
            <a:ext cx="3931920" cy="2103120"/>
          </a:xfrm>
          <a:prstGeom prst="roundRect">
            <a:avLst>
              <a:gd name="adj" fmla="val 3478"/>
            </a:avLst>
          </a:prstGeom>
          <a:solidFill>
            <a:srgbClr val="E6F5F3"/>
          </a:solidFill>
          <a:ln w="12700">
            <a:solidFill>
              <a:srgbClr val="E6F5F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891272" y="4224528"/>
            <a:ext cx="3602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判斷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7891272" y="4590288"/>
            <a:ext cx="3602736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TAM 夠大，但吸引人的是歐洲；先用 C1 把電池池與合規地基建起來，再用兩個數字（CAC、留存）決定要不要下場打傳統車市場。</a:t>
            </a:r>
            <a:endParaRPr lang="en-US" sz="11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決策門檻與終止訊號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B2C 放大前五項門檻必須同時通過；C1 有三個終止訊號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24712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達方電子 E-mobility｜三電系統開發商業計劃書 v1.1｜內部策略研究，非投資建議</a:t>
            </a:r>
            <a:endParaRPr lang="en-US" sz="9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676656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005840"/>
                <a:gridCol w="1737360"/>
                <a:gridCol w="1371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B2C 放大門檻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門檻值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目前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判定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CAC（隨車或 B2B2C 通路）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≤ €40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€120 假設值，待試點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未通過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12 個月訂閱留存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≥ 80%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待試點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未通過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電池資產由 SPV 或租賃夥伴持有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是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未定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未通過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種子車隊日均 &lt;15 km 占比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≥ 60%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待試點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未通過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100k 量級 NT$6,000 隱含毛利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≥ 8%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10.6% 估值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通過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綜合判定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五項全過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B2C 停在 PB 通路 ODM 與 B2B 車隊；C1 為主業</a:t>
                      </a:r>
                      <a:endParaRPr lang="en-US" sz="105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589520" y="1463040"/>
            <a:ext cx="4069080" cy="2286000"/>
          </a:xfrm>
          <a:prstGeom prst="roundRect">
            <a:avLst>
              <a:gd name="adj" fmla="val 3200"/>
            </a:avLst>
          </a:prstGeom>
          <a:solidFill>
            <a:srgbClr val="E6F5F3"/>
          </a:solidFill>
          <a:ln w="12700">
            <a:solidFill>
              <a:srgbClr val="E6F5F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54112" y="1572768"/>
            <a:ext cx="3739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C1 終止訊號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754112" y="1938528"/>
            <a:ext cx="3739896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Omnibus VIII 定案後再延或放寬護照與可換性；BMZ 或 Bafang 歐洲實體在 2027 前推出電池加護照加備品套餐；達方歐洲實體不願承擔生產者的財務與法律責任。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589520" y="3931920"/>
            <a:ext cx="4069080" cy="2286000"/>
          </a:xfrm>
          <a:prstGeom prst="roundRect">
            <a:avLst>
              <a:gd name="adj" fmla="val 3200"/>
            </a:avLst>
          </a:prstGeom>
          <a:solidFill>
            <a:srgbClr val="E6F5F3"/>
          </a:solidFill>
          <a:ln w="12700">
            <a:solidFill>
              <a:srgbClr val="E6F5F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754112" y="4041648"/>
            <a:ext cx="3739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前三大風險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7754112" y="4407408"/>
            <a:ext cx="3739896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量級不足（10k BOM 高出天花板 US$42）；三項無報價佔不含電池 BOM 35%；2026/4 金屬 +40%、塑料 +80% 的原物料漲價。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457200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五項門檻的「目前」欄為模型預設值，須以 2,000 台試點數據覆寫後再判定。</a:t>
            </a:r>
            <a:endParaRPr lang="en-US" sz="10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里程碑、資金需求與下一步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投入模具費之前的三個門檻：報價覆寫後毛利 ≥ 8%、種子車隊分群成立、三地法律意見確認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24712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達方電子 E-mobility｜三電系統開發商業計劃書 v1.1｜內部策略研究，非投資建議</a:t>
            </a:r>
            <a:endParaRPr lang="en-US" sz="9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69494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4023360"/>
                <a:gridCol w="1828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時程</a:t>
                      </a:r>
                      <a:endParaRPr lang="en-US" sz="10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里程碑</a:t>
                      </a:r>
                      <a:endParaRPr lang="en-US" sz="10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關卡</a:t>
                      </a:r>
                      <a:endParaRPr lang="en-US" sz="10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2026 Q4</a:t>
                      </a:r>
                      <a:endParaRPr lang="en-US" sz="10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C1 啟動：GROFA 自身合規；三檔書面報價；電芯座 A 樣；控制器雙訊號凍結；三地法律意見</a:t>
                      </a:r>
                      <a:endParaRPr lang="en-US" sz="10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GROFA 合規完成；毛利 ≥ 8%</a:t>
                      </a:r>
                      <a:endParaRPr lang="en-US" sz="10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2027 H1</a:t>
                      </a:r>
                      <a:endParaRPr lang="en-US" sz="10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C1 銷售 GROFA 代理品牌與德國中價位品牌；種子車隊 500–1,000 台；EN 15194 送測</a:t>
                      </a:r>
                      <a:endParaRPr lang="en-US" sz="10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首批服務合約；duty cycle 分布</a:t>
                      </a:r>
                      <a:endParaRPr lang="en-US" sz="10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2027 H2</a:t>
                      </a:r>
                      <a:endParaRPr lang="en-US" sz="10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歐洲 DTC 與薪資扣抵上市；經銷點換電；歐洲翻新中心</a:t>
                      </a:r>
                      <a:endParaRPr lang="en-US" sz="10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4,000 台；附加率 ≥ 80%</a:t>
                      </a:r>
                      <a:endParaRPr lang="en-US" sz="10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2028</a:t>
                      </a:r>
                      <a:endParaRPr lang="en-US" sz="10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日本三型型式認定、◇PSE；PB 與法人通路；日本翻新中心；SPV 承接電池</a:t>
                      </a:r>
                      <a:endParaRPr lang="en-US" sz="10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7,500 台；日本單戶淨值為正</a:t>
                      </a:r>
                      <a:endParaRPr lang="en-US" sz="10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2029–2031</a:t>
                      </a:r>
                      <a:endParaRPr lang="en-US" sz="10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出廠價達標（50k）；EBIT 轉正；80k → 110k 台</a:t>
                      </a:r>
                      <a:endParaRPr lang="en-US" sz="10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JhengHei"/>
                          <a:ea typeface="Calibri" pitchFamily="34" charset="-122"/>
                          <a:cs typeface="Calibri" pitchFamily="34" charset="-120"/>
                        </a:rPr>
                        <a:t>EBIT 率 ≥ 10%；累計現金流轉正</a:t>
                      </a:r>
                      <a:endParaRPr lang="en-US" sz="1000" dirty="0">
                        <a:latin typeface="Calibri" charset="0"/>
                        <a:ea typeface="Microsoft JhengHei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726680" y="1463040"/>
            <a:ext cx="3931920" cy="1234440"/>
          </a:xfrm>
          <a:prstGeom prst="roundRect">
            <a:avLst>
              <a:gd name="adj" fmla="val 5926"/>
            </a:avLst>
          </a:prstGeom>
          <a:solidFill>
            <a:srgbClr val="F3FAF8"/>
          </a:solidFill>
          <a:ln w="12700">
            <a:solidFill>
              <a:srgbClr val="E6F5F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863840" y="15544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NT$113M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7863840" y="21945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五年 RD、APP、認證、翻新建置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726680" y="2834640"/>
            <a:ext cx="3931920" cy="1234440"/>
          </a:xfrm>
          <a:prstGeom prst="roundRect">
            <a:avLst>
              <a:gd name="adj" fmla="val 5926"/>
            </a:avLst>
          </a:prstGeom>
          <a:solidFill>
            <a:srgbClr val="F3FAF8"/>
          </a:solidFill>
          <a:ln w="12700">
            <a:solidFill>
              <a:srgbClr val="E6F5F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863840" y="29260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NT$-101 → 18M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7863840" y="35661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累計現金流最低點：自持電池 → SPV 持有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7726680" y="4206240"/>
            <a:ext cx="3931920" cy="1234440"/>
          </a:xfrm>
          <a:prstGeom prst="roundRect">
            <a:avLst>
              <a:gd name="adj" fmla="val 5926"/>
            </a:avLst>
          </a:prstGeom>
          <a:solidFill>
            <a:srgbClr val="F3FAF8"/>
          </a:solidFill>
          <a:ln w="12700">
            <a:solidFill>
              <a:srgbClr val="E6F5F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863840" y="42976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4530A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3 件事</a:t>
            </a:r>
            <a:endParaRPr lang="en-US" sz="2600" dirty="0"/>
          </a:p>
        </p:txBody>
      </p:sp>
      <p:sp>
        <p:nvSpPr>
          <p:cNvPr id="15" name="Text 12"/>
          <p:cNvSpPr txBox="1"/>
          <p:nvPr/>
        </p:nvSpPr>
        <p:spPr>
          <a:xfrm>
            <a:off x="7863840" y="49377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報價、種子車隊、法律意見；三者未全過，計劃停在 Phase 0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56692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73"/>
                </a:solidFill>
                <a:latin typeface="Calibri" pitchFamily="34" charset="0"/>
                <a:ea typeface="Microsoft JhengHei"/>
                <a:ea typeface="Calibri" pitchFamily="34" charset="-122"/>
                <a:cs typeface="Calibri" pitchFamily="34" charset="-120"/>
              </a:rPr>
              <a:t>免責聲明：本簡報為達方電子內部策略研究，依模型參數與公開資訊試算，不構成投資建議；法規、稅率、價格與供應商成本以主管機關、認證機構與正式報價為準。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三電系統開發商業計劃書</dc:title>
  <dc:subject>PptxGenJS Presentation</dc:subject>
  <dc:creator>Darfon E-mobility</dc:creator>
  <cp:lastModifiedBy>Darfon E-mobility</cp:lastModifiedBy>
  <cp:revision>1</cp:revision>
  <dcterms:created xsi:type="dcterms:W3CDTF">2026-09-23T01:53:43Z</dcterms:created>
  <dcterms:modified xsi:type="dcterms:W3CDTF">2026-09-23T01:53:43Z</dcterms:modified>
</cp:coreProperties>
</file>